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39" r:id="rId5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74" r:id="rId10"/>
    <p:sldId id="273" r:id="rId11"/>
    <p:sldId id="275" r:id="rId12"/>
    <p:sldId id="276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64" r:id="rId2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6CB26-8B73-4A2D-AA7F-CE32E99DC23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7A386-90E9-428C-A978-B0B383D63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7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1:……………………………………..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body"/>
          </p:nvPr>
        </p:nvSpPr>
        <p:spPr>
          <a:xfrm>
            <a:off x="330120" y="1406880"/>
            <a:ext cx="5765400" cy="465552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Chart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238800" y="1414440"/>
            <a:ext cx="5444640" cy="46558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Picture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2:……………………………………..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392040" y="271440"/>
            <a:ext cx="3174120" cy="1153080"/>
          </a:xfrm>
          <a:prstGeom prst="rect">
            <a:avLst/>
          </a:prstGeom>
          <a:ln>
            <a:noFill/>
          </a:ln>
        </p:spPr>
      </p:pic>
      <p:sp>
        <p:nvSpPr>
          <p:cNvPr id="307" name="CustomShape 1"/>
          <p:cNvSpPr/>
          <p:nvPr/>
        </p:nvSpPr>
        <p:spPr>
          <a:xfrm>
            <a:off x="695520" y="2269440"/>
            <a:ext cx="8251560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en-US" sz="4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</a:t>
            </a:r>
            <a:r>
              <a:rPr lang="vi-VN" sz="4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III</a:t>
            </a:r>
            <a:endParaRPr lang="en-US" sz="4400" dirty="0">
              <a:solidFill>
                <a:srgbClr val="FF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8" name="CustomShape 2"/>
          <p:cNvSpPr/>
          <p:nvPr/>
        </p:nvSpPr>
        <p:spPr>
          <a:xfrm>
            <a:off x="695520" y="3418114"/>
            <a:ext cx="6095520" cy="22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9" name="CustomShape 3"/>
          <p:cNvSpPr/>
          <p:nvPr/>
        </p:nvSpPr>
        <p:spPr>
          <a:xfrm>
            <a:off x="6962400" y="3269880"/>
            <a:ext cx="4329000" cy="136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B346D-5485-2CF1-E265-8E4CCF4A74AF}"/>
              </a:ext>
            </a:extLst>
          </p:cNvPr>
          <p:cNvSpPr txBox="1"/>
          <p:nvPr/>
        </p:nvSpPr>
        <p:spPr>
          <a:xfrm>
            <a:off x="524160" y="4628301"/>
            <a:ext cx="46033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000" dirty="0"/>
              <a:t>Sinh Viên: Phạm Thanh An - 20224911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5FDA1-221D-C2B8-FD28-F73A570392E0}"/>
              </a:ext>
            </a:extLst>
          </p:cNvPr>
          <p:cNvSpPr txBox="1"/>
          <p:nvPr/>
        </p:nvSpPr>
        <p:spPr>
          <a:xfrm>
            <a:off x="392040" y="3272966"/>
            <a:ext cx="67762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</a:rPr>
              <a:t>Đề tài: VRPD-time window</a:t>
            </a:r>
          </a:p>
          <a:p>
            <a:r>
              <a:rPr lang="vi-VN" sz="3600" dirty="0">
                <a:solidFill>
                  <a:srgbClr val="FF0000"/>
                </a:solidFill>
              </a:rPr>
              <a:t>Giải thuật Genetic Programming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/>
          <p:cNvSpPr/>
          <p:nvPr/>
        </p:nvSpPr>
        <p:spPr>
          <a:xfrm>
            <a:off x="3209400" y="2164680"/>
            <a:ext cx="360" cy="360"/>
          </a:xfrm>
          <a:custGeom>
            <a:avLst/>
            <a:gdLst/>
            <a:ahLst/>
            <a:cxn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  <p:txBody>
          <a:bodyPr/>
          <a:lstStyle/>
          <a:p>
            <a:endParaRPr lang="en-US"/>
          </a:p>
        </p:txBody>
      </p:sp>
      <p:sp>
        <p:nvSpPr>
          <p:cNvPr id="311" name="TextShape 2"/>
          <p:cNvSpPr txBox="1"/>
          <p:nvPr/>
        </p:nvSpPr>
        <p:spPr>
          <a:xfrm>
            <a:off x="512932" y="1341789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514350" indent="-514350">
              <a:buAutoNum type="arabicPeriod"/>
            </a:pPr>
            <a:r>
              <a:rPr lang="vi-VN" sz="2800" dirty="0"/>
              <a:t>Giới thiệu bài toán</a:t>
            </a:r>
          </a:p>
          <a:p>
            <a:pPr marL="514350" indent="-514350">
              <a:buAutoNum type="arabicPeriod"/>
            </a:pPr>
            <a:r>
              <a:rPr lang="vi-VN" sz="2800" dirty="0"/>
              <a:t>Các thuật toán tiến hóa cho tối ưu đa mục tiêu</a:t>
            </a:r>
          </a:p>
          <a:p>
            <a:pPr marL="514350" indent="-514350">
              <a:buAutoNum type="arabicPeriod"/>
            </a:pPr>
            <a:r>
              <a:rPr lang="vi-VN" sz="2800" dirty="0"/>
              <a:t>Các thuật toán lập lịch cho môi trường động</a:t>
            </a:r>
            <a:endParaRPr lang="vi-VN" sz="2800" spc="-1" dirty="0">
              <a:solidFill>
                <a:srgbClr val="000000"/>
              </a:solidFill>
              <a:latin typeface="Calibri"/>
            </a:endParaRPr>
          </a:p>
          <a:p>
            <a:pPr marL="514350" indent="-514350">
              <a:buAutoNum type="arabicPeriod"/>
            </a:pPr>
            <a:r>
              <a:rPr lang="vi-VN" sz="2800" dirty="0"/>
              <a:t>Thực nghiệm và kết quả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52FEFC-13F6-E01B-2A79-92DFCDF659E9}"/>
              </a:ext>
            </a:extLst>
          </p:cNvPr>
          <p:cNvSpPr txBox="1"/>
          <p:nvPr/>
        </p:nvSpPr>
        <p:spPr>
          <a:xfrm>
            <a:off x="273447" y="76200"/>
            <a:ext cx="1770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600" dirty="0">
                <a:solidFill>
                  <a:schemeClr val="bg1"/>
                </a:solidFill>
              </a:rPr>
              <a:t>Mở đầu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2"/>
          <p:cNvSpPr txBox="1"/>
          <p:nvPr/>
        </p:nvSpPr>
        <p:spPr>
          <a:xfrm>
            <a:off x="88389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dirty="0">
                <a:solidFill>
                  <a:schemeClr val="bg1"/>
                </a:solidFill>
              </a:rPr>
              <a:t>1. Mô tả bài toán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8648D-084B-6203-BECC-1890746E9161}"/>
                  </a:ext>
                </a:extLst>
              </p:cNvPr>
              <p:cNvSpPr txBox="1"/>
              <p:nvPr/>
            </p:nvSpPr>
            <p:spPr>
              <a:xfrm>
                <a:off x="544286" y="1066801"/>
                <a:ext cx="10352514" cy="52322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sz="2000" dirty="0"/>
                  <a:t>Hệ thống hoạt động song song, K truck đồng nhất, D drone đồng nhất</a:t>
                </a:r>
                <a:endParaRPr lang="en-US" sz="2000" dirty="0"/>
              </a:p>
              <a:p>
                <a:pPr lvl="0"/>
                <a:r>
                  <a:rPr lang="vi-VN" sz="2000" dirty="0"/>
                  <a:t>Xuất phát từ Depot 0 phục vụ tập C: </a:t>
                </a:r>
              </a:p>
              <a:p>
                <a:pPr lvl="1"/>
                <a:r>
                  <a:rPr lang="vi-VN" sz="2000" dirty="0"/>
                  <a:t>C1 (chỉ có thể phục vụ bởi truck)</a:t>
                </a:r>
              </a:p>
              <a:p>
                <a:pPr lvl="1"/>
                <a:r>
                  <a:rPr lang="vi-VN" sz="2000" dirty="0"/>
                  <a:t> C2 (có thể phục vụ bởi cả drone và truck</a:t>
                </a:r>
              </a:p>
              <a:p>
                <a:r>
                  <a:rPr lang="vi-VN" sz="2000" dirty="0"/>
                  <a:t>Ràng buộc:</a:t>
                </a:r>
              </a:p>
              <a:p>
                <a:pPr lvl="1"/>
                <a:r>
                  <a:rPr lang="vi-VN" sz="2000" dirty="0"/>
                  <a:t>Xe tải tải trọng tối đa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vi-VN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vi-VN" sz="2000" dirty="0"/>
              </a:p>
              <a:p>
                <a:pPr lvl="1"/>
                <a:r>
                  <a:rPr lang="vi-VN" sz="2000" dirty="0"/>
                  <a:t>Drone tải trọng tối đa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vi-VN" sz="2000" b="0" i="1" dirty="0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m:rPr>
                        <m:sty m:val="p"/>
                      </m:rPr>
                      <a:rPr lang="vi-VN" sz="2000" i="1" dirty="0">
                        <a:latin typeface="Cambria Math" panose="02040503050406030204" pitchFamily="18" charset="0"/>
                      </a:rPr>
                      <m:t>b</m:t>
                    </m:r>
                    <m:r>
                      <a:rPr lang="vi-VN" sz="2000" i="1" dirty="0">
                        <a:latin typeface="Cambria Math" panose="02040503050406030204" pitchFamily="18" charset="0"/>
                      </a:rPr>
                      <m:t>á</m:t>
                    </m:r>
                    <m:r>
                      <m:rPr>
                        <m:sty m:val="p"/>
                      </m:rPr>
                      <a:rPr lang="vi-VN" sz="2000" i="1" dirty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vi-VN" sz="2000" dirty="0"/>
                  <a:t> kính bay tối đa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endParaRPr lang="vi-VN" sz="2000" dirty="0"/>
              </a:p>
              <a:p>
                <a:pPr lvl="1"/>
                <a:r>
                  <a:rPr lang="vi-VN" sz="2000" dirty="0"/>
                  <a:t>Dynamic: khách thời: điểm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vi-VN" sz="2000" dirty="0"/>
                  <a:t>, yêu cầu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vi-V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0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vi-VN" sz="2000" dirty="0"/>
                  <a:t>, gói hàng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vi-VN" sz="2000" dirty="0"/>
              </a:p>
              <a:p>
                <a:pPr lvl="1"/>
                <a:r>
                  <a:rPr lang="vi-VN" sz="2000" dirty="0"/>
                  <a:t>Hành trình: phương tiện được thực hiện nhiều hành trình, mỗi hành trình nhiều khách</a:t>
                </a:r>
              </a:p>
              <a:p>
                <a:pPr lvl="1"/>
                <a:r>
                  <a:rPr lang="vi-VN" sz="2000" dirty="0"/>
                  <a:t>Thời gian sạc/thay pin = 0</a:t>
                </a:r>
              </a:p>
              <a:p>
                <a:r>
                  <a:rPr lang="vi-VN" sz="2000" dirty="0"/>
                  <a:t>Output: hành trình Truck Drone</a:t>
                </a:r>
              </a:p>
              <a:p>
                <a:r>
                  <a:rPr lang="vi-VN" sz="2000" dirty="0"/>
                  <a:t>Objectives:</a:t>
                </a:r>
              </a:p>
              <a:p>
                <a:pPr lvl="1"/>
                <a:r>
                  <a:rPr lang="vi-VN" sz="2000" dirty="0"/>
                  <a:t>Obj1: thời gian tối thiểu</a:t>
                </a:r>
              </a:p>
              <a:p>
                <a:pPr lvl="1"/>
                <a:r>
                  <a:rPr lang="vi-VN" sz="2000" dirty="0"/>
                  <a:t>Obj2: tối đa hóa số khách được phục vụ</a:t>
                </a:r>
              </a:p>
              <a:p>
                <a:pPr lvl="1"/>
                <a:endParaRPr lang="en-US" dirty="0"/>
              </a:p>
              <a:p>
                <a:endParaRPr lang="vi-V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58648D-084B-6203-BECC-1890746E9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6" y="1066801"/>
                <a:ext cx="10352514" cy="5232202"/>
              </a:xfrm>
              <a:prstGeom prst="rect">
                <a:avLst/>
              </a:prstGeom>
              <a:blipFill>
                <a:blip r:embed="rId2"/>
                <a:stretch>
                  <a:fillRect l="-589" t="-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6F89-06E9-05D2-9F95-D00C5890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6350BF6D-9E07-0113-41FD-BCF182BEE768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tiến hóa cho tối ưu đa mục tiêu 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E3490-58E0-AE3E-D7C2-76964F43E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10" y="1219981"/>
            <a:ext cx="5861351" cy="49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5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549B0-1E7A-C3CB-2002-78F802F63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C5017629-2985-81B8-2D0D-91A27841D11B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tiến hóa cho tối ưu đa mục tiêu 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0AD724-E2DA-96A7-21EB-31D3D4419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135457"/>
            <a:ext cx="5380694" cy="482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9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A950-2763-3D3A-1231-ED252296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9342E168-63E1-9655-9853-BAA1BFE35748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tiến hóa cho tối ưu đa mục tiêu 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9953D9-FC61-F32F-3C46-AE8455DF1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19" y="1252676"/>
            <a:ext cx="6628320" cy="32213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78A45F-9C57-5051-961C-62236C88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650" y="1252676"/>
            <a:ext cx="4965955" cy="415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1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1ACA-8F75-F85B-5F0E-EAE06785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3E040CAC-829F-813F-34DE-F69CF8F9EF25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tiến hóa cho tối ưu đa mục tiêu 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7D1FF1-7E74-BB51-7F49-95923F364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59" y="1359256"/>
            <a:ext cx="7283824" cy="37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91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251A-A494-E2E7-8A37-66D6634B0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412412E2-98DA-D52B-CA1F-5E731045AB02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lập lịch cho môi trường động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084F2-DD9F-DB16-AC68-D76C4AC4A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68" y="1193967"/>
            <a:ext cx="5598312" cy="44700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5311AC-5141-EA9A-DF00-CF317C1C2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53" y="1193967"/>
            <a:ext cx="5895779" cy="349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77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8929-6639-4FF9-71C5-76E1D326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2D74669A-981D-72C8-501A-E8B7C7E6AA33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lập lịch cho môi trường động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9ECF3C-2B9A-8FDF-53C5-D7741B6FD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02" y="1173714"/>
            <a:ext cx="6495029" cy="4900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F827B9-7FA3-9AA9-5F4A-4EB23B56B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285" y="1173714"/>
            <a:ext cx="4393360" cy="423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49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CB66A-E9D7-FE69-CEE2-CAA8E85F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C5CB8605-BF19-6246-51F8-70A4A2F99E99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lập lịch cho môi trường động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6D983D-9B0E-852D-36D3-F80939504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12" y="1173714"/>
            <a:ext cx="5979249" cy="4790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0C439F-6177-1D27-880B-24F61043D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225" y="1173714"/>
            <a:ext cx="5510499" cy="489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68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F0B9-439B-F4FC-0E1F-AE8D81CDC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2C676A75-B48E-93E6-9B1D-F5B1D5974B0D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lập lịch cho môi trường động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6678C5-7C9E-F811-E6CF-4D97B480C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43" y="1183700"/>
            <a:ext cx="6388428" cy="468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71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B37F2-E6D2-B18B-8C8B-56A6FB37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F9DA1E67-EE82-577D-00FA-78BEDA9A640F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lập lịch cho môi trường động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5AF8B4-5663-9833-55AC-63E216EAD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55" y="1155642"/>
            <a:ext cx="6125321" cy="491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39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9560-65CC-D04F-2278-CF46E0F3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99722114-F9CF-4F39-F4E8-1B2376EE964E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2. </a:t>
            </a:r>
            <a:r>
              <a:rPr lang="vi-VN" sz="3600" spc="-1" dirty="0">
                <a:solidFill>
                  <a:schemeClr val="bg1"/>
                </a:solidFill>
                <a:latin typeface="Calibri"/>
              </a:rPr>
              <a:t>Các thuật toán lập lịch cho môi trường động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414FFA-80E3-1F68-BBB9-98FDA1B6E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66" y="1281245"/>
            <a:ext cx="6966449" cy="453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90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FA467-D2BF-E166-2012-567FF07B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632E0331-0BF0-6DA7-147D-5CBB59686CB3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3. Thực nghiệm và kết quả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BC440-7E18-F2B7-BBB6-A146086EC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69" y="2070500"/>
            <a:ext cx="10282888" cy="34920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0C741F-4070-E1D7-EE58-AA4B51992206}"/>
              </a:ext>
            </a:extLst>
          </p:cNvPr>
          <p:cNvSpPr txBox="1"/>
          <p:nvPr/>
        </p:nvSpPr>
        <p:spPr>
          <a:xfrm>
            <a:off x="186360" y="1295401"/>
            <a:ext cx="563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3.1. Thiết kế tham số thực nghiệm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5583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BEF0-4B1A-7A6A-EB62-D21023F71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1C643DAB-F44A-7971-92C5-BF5E58301D40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3. Thực nghiệm và kết quả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977A8-AE05-DDA4-7A44-9D2396466906}"/>
              </a:ext>
            </a:extLst>
          </p:cNvPr>
          <p:cNvSpPr txBox="1"/>
          <p:nvPr/>
        </p:nvSpPr>
        <p:spPr>
          <a:xfrm>
            <a:off x="186360" y="129540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3.2. Kết quả thực nghiệm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9D9CED-C751-A98A-3B7A-269632746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06" y="1818621"/>
            <a:ext cx="7398130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69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4088-7C00-1846-0DA2-C654E9BE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496CD6FB-F344-01FD-47B0-CADE0736A1C9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3. Thực nghiệm và kết quả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1A16BC-EA37-3595-06D9-0543FC8EEDA1}"/>
              </a:ext>
            </a:extLst>
          </p:cNvPr>
          <p:cNvSpPr txBox="1"/>
          <p:nvPr/>
        </p:nvSpPr>
        <p:spPr>
          <a:xfrm>
            <a:off x="186360" y="129540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3.2. Kết quả thực nghiệm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406E77-016A-F634-B3FD-923C18FF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878" y="1977457"/>
            <a:ext cx="5606315" cy="373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54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D2E8-C57A-2348-D69B-3F74D23B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F5A4F110-6C54-8C36-4A3B-03AB28D1B349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3. Thực nghiệm và kết quả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10077-2B5D-99AC-0FB2-CA7C91DA148A}"/>
              </a:ext>
            </a:extLst>
          </p:cNvPr>
          <p:cNvSpPr txBox="1"/>
          <p:nvPr/>
        </p:nvSpPr>
        <p:spPr>
          <a:xfrm>
            <a:off x="186360" y="129540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3.2. Kết quả thực nghiệm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660F1-46F7-B105-71AE-DDA24C43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762" y="1818621"/>
            <a:ext cx="4800323" cy="420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01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C6D9-64F2-D948-A600-6FFB384B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D3A396FA-95EB-5852-30AE-59C8223D0135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3. Thực nghiệm và kết quả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5130D-24A8-ACDF-6425-B259F99FCD69}"/>
              </a:ext>
            </a:extLst>
          </p:cNvPr>
          <p:cNvSpPr txBox="1"/>
          <p:nvPr/>
        </p:nvSpPr>
        <p:spPr>
          <a:xfrm>
            <a:off x="186360" y="129540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3.2. Kết quả thực nghiệm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39EB6-4EA7-8CD9-5195-E29E967F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720" y="1890551"/>
            <a:ext cx="6176548" cy="322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11F371-281F-F79F-3FE0-A217692FE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675" y="2259675"/>
            <a:ext cx="6547186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76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EA27-A53F-7C20-DFCF-8C9BFB55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F185C62F-2471-7710-830D-6B7AE8150B0D}"/>
              </a:ext>
            </a:extLst>
          </p:cNvPr>
          <p:cNvSpPr txBox="1"/>
          <p:nvPr/>
        </p:nvSpPr>
        <p:spPr>
          <a:xfrm>
            <a:off x="1863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0" strike="noStrike" spc="-1" dirty="0">
                <a:solidFill>
                  <a:schemeClr val="bg1"/>
                </a:solidFill>
                <a:latin typeface="Calibri"/>
              </a:rPr>
              <a:t>3. Thực nghiệm và kết quả</a:t>
            </a:r>
            <a:endParaRPr lang="en-US" sz="3600" b="0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04B55-A9A7-42C4-8522-25FDB2997CCD}"/>
              </a:ext>
            </a:extLst>
          </p:cNvPr>
          <p:cNvSpPr txBox="1"/>
          <p:nvPr/>
        </p:nvSpPr>
        <p:spPr>
          <a:xfrm>
            <a:off x="186360" y="1295401"/>
            <a:ext cx="4222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3.2. Kết quả thực nghiệm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D88B42-1805-46C6-16B6-4A87D88B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422" y="1900362"/>
            <a:ext cx="6521785" cy="394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75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5756400" y="2824200"/>
            <a:ext cx="5136480" cy="97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b="1" strike="noStrike" spc="-1">
                <a:solidFill>
                  <a:srgbClr val="C00000"/>
                </a:solidFill>
                <a:latin typeface="Lato"/>
                <a:ea typeface="Lato"/>
              </a:rPr>
              <a:t>THANK YOU !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395</Words>
  <Application>Microsoft Office PowerPoint</Application>
  <PresentationFormat>Widescreen</PresentationFormat>
  <Paragraphs>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Lato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Phong TT &amp; QTTH</dc:creator>
  <dc:description/>
  <cp:lastModifiedBy>An Phạm</cp:lastModifiedBy>
  <cp:revision>9</cp:revision>
  <dcterms:created xsi:type="dcterms:W3CDTF">2020-12-31T09:57:48Z</dcterms:created>
  <dcterms:modified xsi:type="dcterms:W3CDTF">2026-02-06T02:19:28Z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0x0101004F531634775FD1439D5B67291EFE2AD4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